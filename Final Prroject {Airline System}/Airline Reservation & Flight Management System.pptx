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embeddedFontLst>
    <p:embeddedFont>
      <p:font typeface="Calibri" panose="020F0502020204030204"/>
      <p:regular r:id="rId21"/>
      <p:bold r:id="rId22"/>
      <p:italic r:id="rId23"/>
      <p:boldItalic r:id="rId24"/>
    </p:embeddedFont>
    <p:embeddedFont>
      <p:font typeface="Urbanist" panose="020B0A04040200000203"/>
      <p:regular r:id="rId25"/>
      <p:bold r:id="rId26"/>
      <p:italic r:id="rId27"/>
      <p:boldItalic r:id="rId28"/>
    </p:embeddedFont>
    <p:embeddedFont>
      <p:font typeface="Inter" panose="02000503000000020004"/>
      <p:regular r:id="rId29"/>
      <p:bold r:id="rId30"/>
      <p:italic r:id="rId31"/>
      <p:boldItalic r:id="rId32"/>
    </p:embeddedFont>
    <p:embeddedFont>
      <p:font typeface="Inter SemiBold" panose="02000503000000020004"/>
      <p:regular r:id="rId33"/>
      <p:bold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BD3E31-CBE6-4D05-A113-BC8260836A5A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5.fntdata"/><Relationship Id="rId34" Type="http://schemas.openxmlformats.org/officeDocument/2006/relationships/font" Target="fonts/font14.fntdata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d3a8d0580_0_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d3a8d0580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1195387" y="2357586"/>
            <a:ext cx="9801225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AIRLINE RESERVATION &amp;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80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FLIGHT MANAGEMENT SYSTEM</a:t>
            </a:r>
            <a:endParaRPr lang="en-US" sz="480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995612" y="4155727"/>
            <a:ext cx="62007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 Object-Oriented Console Application 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Architecture </a:t>
            </a:r>
            <a:r>
              <a:rPr lang="en-US" sz="16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 C++</a:t>
            </a:r>
            <a:endParaRPr lang="en-US" sz="16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2995612" y="3927127"/>
            <a:ext cx="62007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3084830" y="4719320"/>
            <a:ext cx="6303010" cy="8528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sz="1650">
                <a:solidFill>
                  <a:srgbClr val="94A3B8"/>
                </a:solidFill>
              </a:rPr>
              <a:t>NAME: ABRAHIM</a:t>
            </a:r>
            <a:endParaRPr lang="en-US" sz="1650">
              <a:solidFill>
                <a:srgbClr val="94A3B8"/>
              </a:solidFill>
            </a:endParaRPr>
          </a:p>
          <a:p>
            <a:r>
              <a:rPr lang="en-US" sz="1650">
                <a:solidFill>
                  <a:srgbClr val="94A3B8"/>
                </a:solidFill>
              </a:rPr>
              <a:t>ROLL NO: 2025-29 CET 22</a:t>
            </a:r>
            <a:endParaRPr lang="en-US" sz="1650">
              <a:solidFill>
                <a:srgbClr val="94A3B8"/>
              </a:solidFill>
            </a:endParaRPr>
          </a:p>
          <a:p>
            <a:r>
              <a:rPr lang="en-US" sz="1650">
                <a:solidFill>
                  <a:srgbClr val="94A3B8"/>
                </a:solidFill>
              </a:rPr>
              <a:t>Submited To: Zeeshan Rashid</a:t>
            </a:r>
            <a:endParaRPr lang="en-US" sz="1650">
              <a:solidFill>
                <a:srgbClr val="94A3B8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5715000" y="267652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05301" y="3000375"/>
            <a:ext cx="11181397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01 / SYSTEM OVERVIEW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39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&amp; CORE ARCHITECTURE</a:t>
            </a:r>
            <a:endParaRPr lang="en-US" sz="39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2589907"/>
            <a:ext cx="5133975" cy="250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86500" y="2589907"/>
            <a:ext cx="5133975" cy="25049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1471612" y="2932807"/>
            <a:ext cx="429553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PROBLEM</a:t>
            </a:r>
            <a:endParaRPr lang="en-US" sz="18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986587" y="2932807"/>
            <a:ext cx="429553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SOLUTION</a:t>
            </a:r>
            <a:endParaRPr lang="en-US" sz="18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08" name="Google Shape;108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4425" y="2956619"/>
            <a:ext cx="24288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29400" y="2956619"/>
            <a:ext cx="24288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PROJECT CONTEXT &amp; PURPOSE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114425" y="3380482"/>
            <a:ext cx="4448175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Modern airlines require absolute consistency, structured booking pipelines, and deterministic data management. Relying on disconnected </a:t>
            </a:r>
            <a:r>
              <a:rPr lang="en-US" sz="13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spreadsheets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creates data fragmentation, lack of integrity, and scalability issues.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6629400" y="3380482"/>
            <a:ext cx="4448175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native </a:t>
            </a:r>
            <a:r>
              <a:rPr lang="en-US" sz="13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C++ Console Application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constructed entirely around production-grade </a:t>
            </a:r>
            <a:r>
              <a:rPr lang="en-US" sz="13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Object-Oriented Programming (OOP)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constraints, leveraging robust memory layout patterns, STL integration, and strict class encapsulation.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2991891"/>
            <a:ext cx="3397150" cy="2495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97275" y="2991891"/>
            <a:ext cx="3397299" cy="2495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023175" y="2991891"/>
            <a:ext cx="3397150" cy="2495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781051" y="4220467"/>
            <a:ext cx="3378098" cy="381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1066800" y="3287166"/>
            <a:ext cx="294693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DOMESTIC FLIGHT</a:t>
            </a:r>
            <a:endParaRPr lang="en-US" sz="16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406800" y="4220467"/>
            <a:ext cx="3378250" cy="381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692550" y="3287166"/>
            <a:ext cx="29470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INTERNATIONAL FLIGHT</a:t>
            </a:r>
            <a:endParaRPr lang="en-US" sz="16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8032701" y="4220467"/>
            <a:ext cx="3378098" cy="381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8318450" y="3287166"/>
            <a:ext cx="294693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CHARTER FLIGHT</a:t>
            </a:r>
            <a:endParaRPr lang="en-US" sz="16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FLIGHT SUBSYSTEM ARCHITECTURE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771525" y="2197596"/>
            <a:ext cx="10648950" cy="55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system implements an abstract base class Flight mapping structural commonalities, policing derived models via a </a:t>
            </a:r>
            <a:r>
              <a:rPr lang="en-US" sz="13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pure virtual function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for custom billing algorithms.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1066800" y="3687216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Tracks localized domestic tax structures.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066800" y="4270027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Calculates pricing metrics matching regional economic regulations.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692550" y="3687216"/>
            <a:ext cx="28067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Integrates complex visa requirement states.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4692550" y="4270027"/>
            <a:ext cx="28067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Captures destination country identifiers.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692550" y="4852838"/>
            <a:ext cx="280674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Applies global tariff formulas.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318450" y="3687216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Maintains contract holder entity information.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8318450" y="4270027"/>
            <a:ext cx="280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Processes specialized base charter pricing configurations.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3376463"/>
            <a:ext cx="34226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84625" y="3376463"/>
            <a:ext cx="34226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997725" y="3376463"/>
            <a:ext cx="3422749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781050" y="4224188"/>
            <a:ext cx="3403549" cy="381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1066800" y="3671738"/>
            <a:ext cx="297365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ECONOMY CLASS</a:t>
            </a:r>
            <a:endParaRPr lang="en-US" sz="1650" b="1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1066800" y="4624238"/>
            <a:ext cx="1685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50% Refund Capability</a:t>
            </a:r>
            <a:endParaRPr lang="en-US" sz="120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394150" y="4224188"/>
            <a:ext cx="3403549" cy="381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4679900" y="3671738"/>
            <a:ext cx="297365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BUSINESS CLASS</a:t>
            </a:r>
            <a:endParaRPr lang="en-US" sz="1650" b="1" i="0" u="none" strike="noStrike" cap="none">
              <a:solidFill>
                <a:srgbClr val="38BD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4679900" y="4624238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75% Refund Capability</a:t>
            </a:r>
            <a:endParaRPr lang="en-US" sz="120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8007249" y="4224188"/>
            <a:ext cx="3403701" cy="381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8293000" y="3671738"/>
            <a:ext cx="297380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A78BFA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FIRST CLASS</a:t>
            </a:r>
            <a:endParaRPr lang="en-US" sz="1650" b="1" i="0" u="none" strike="noStrike" cap="none">
              <a:solidFill>
                <a:srgbClr val="A78BFA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293000" y="4624238"/>
            <a:ext cx="16859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90% Refund Capability</a:t>
            </a:r>
            <a:endParaRPr lang="en-US" sz="1200" b="0" i="0" u="none" strike="noStrike" cap="none">
              <a:solidFill>
                <a:srgbClr val="38BDF8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PASSENGER TIER ABSTRACTION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771525" y="2574577"/>
            <a:ext cx="10648950" cy="56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abstract base Passenger schema decouples client metrics. Tier differences dictate business logic implementations via getRefundPercentage().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1066800" y="4071788"/>
            <a:ext cx="2832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Standard tier handling lower luggage thresholds.</a:t>
            </a:r>
            <a:endParaRPr lang="en-US" sz="1125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4679900" y="4071788"/>
            <a:ext cx="2832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Professional business tier optimized with expanded allowance space.</a:t>
            </a:r>
            <a:endParaRPr lang="en-US" sz="1125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8293000" y="4071788"/>
            <a:ext cx="28321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Premium tier delivering elite maximum luggage parameters.</a:t>
            </a:r>
            <a:endParaRPr lang="en-US" sz="1125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2199382"/>
            <a:ext cx="5691038" cy="3285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843563" y="2199382"/>
            <a:ext cx="4576911" cy="328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162050" y="2589907"/>
            <a:ext cx="515548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TICKET CLASS BRIDGE</a:t>
            </a:r>
            <a:endParaRPr lang="en-US" sz="18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7262663" y="3151882"/>
            <a:ext cx="39656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57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POLYMORPHIC POINTERS</a:t>
            </a:r>
            <a:endParaRPr lang="en-US" sz="1500" b="1" i="0" u="none" strike="noStrike" cap="none">
              <a:solidFill>
                <a:srgbClr val="818C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262663" y="3170932"/>
            <a:ext cx="18573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OBJECT ASSOCIATION &amp; CONNECTIVITY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162050" y="3009007"/>
            <a:ext cx="4909988" cy="110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Rather than compounding overhead structural layers, the Ticket entity acts as a decoupled associative link bridging the gap between any subclass instance of a </a:t>
            </a:r>
            <a:r>
              <a:rPr lang="en-US" sz="13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Passenger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and a </a:t>
            </a:r>
            <a:r>
              <a:rPr lang="en-US" sz="1350" b="0" i="0" u="none" strike="noStrike" cap="none">
                <a:solidFill>
                  <a:srgbClr val="38BDF8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Flight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162050" y="4256633"/>
            <a:ext cx="4909988" cy="83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It holds safe structural markers: Ticket ID, Seat Number, Fare Paid, and Booking Status alongside raw directional polymorphism indicators.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7262663" y="3523357"/>
            <a:ext cx="3776811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Memory tracking is preserved safely through standard polymorphic pointers:</a:t>
            </a:r>
            <a:endParaRPr lang="en-US" sz="12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7262663" y="4106167"/>
            <a:ext cx="3776811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Flight* flightPtr;</a:t>
            </a:r>
            <a:endParaRPr lang="en-US" sz="1050" b="0" i="0" u="none" strike="noStrike" cap="none">
              <a:solidFill>
                <a:srgbClr val="38BDF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7262663" y="4319438"/>
            <a:ext cx="3776811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Passenger* passengerPtr;</a:t>
            </a:r>
            <a:endParaRPr lang="en-US" sz="1050" b="0" i="0" u="none" strike="noStrike" cap="none">
              <a:solidFill>
                <a:srgbClr val="38BDF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286500" y="2842170"/>
            <a:ext cx="513397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6977062" y="3185070"/>
            <a:ext cx="43055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43F5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STL VECTOR STORAGE</a:t>
            </a:r>
            <a:endParaRPr lang="en-US" sz="1500" b="1" i="0" u="none" strike="noStrike" cap="none">
              <a:solidFill>
                <a:srgbClr val="F43F5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29400" y="3204120"/>
            <a:ext cx="23336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AIRLINE CENTRAL MANAGER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771525" y="2842170"/>
            <a:ext cx="5133975" cy="830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Airline class forms the central orchestration core. It provides the memory-space architecture required to aggregate, persist, and loop across entity clusters seamlessly.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771525" y="3863131"/>
            <a:ext cx="51339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It exposes CRUD wrappers to scale database records, register incoming travelers, assign tickers, and dispatch transactional information over active outputs.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629400" y="358512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vector flights;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vector passengers;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vector tickets;</a:t>
            </a:r>
            <a:endParaRPr lang="en-US" sz="1200" b="0" i="0" u="none" strike="noStrike" cap="none">
              <a:solidFill>
                <a:srgbClr val="CBD5E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-942975" y="3990975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715000" y="267652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05301" y="3000375"/>
            <a:ext cx="11181397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02 / OOP IMPLEMENTATION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39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&amp; MECHANICS</a:t>
            </a:r>
            <a:endParaRPr lang="en-US" sz="39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2706141"/>
            <a:ext cx="2519362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481387" y="2706141"/>
            <a:ext cx="2519362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91250" y="2706141"/>
            <a:ext cx="2519362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901112" y="2706141"/>
            <a:ext cx="2519362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816893" y="295379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918567" y="3439566"/>
            <a:ext cx="222527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ENCAPSULATION</a:t>
            </a:r>
            <a:endParaRPr lang="en-US" sz="13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04" name="Google Shape;204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569618" y="295379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3628429" y="3439566"/>
            <a:ext cx="222527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INHERITANCE</a:t>
            </a:r>
            <a:endParaRPr lang="en-US" sz="13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06" name="Google Shape;206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236618" y="295379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6338292" y="3439566"/>
            <a:ext cx="222527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ABSTRACTION</a:t>
            </a:r>
            <a:endParaRPr lang="en-US" sz="13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08" name="Google Shape;208;p22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965531" y="2953791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9048154" y="3439566"/>
            <a:ext cx="222527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POLYMORPHISM</a:t>
            </a:r>
            <a:endParaRPr lang="en-US" sz="13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CORE OOP PILLARS APPLIED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971550" y="3744366"/>
            <a:ext cx="2119312" cy="799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Member data properties like flightNumber remain private, exposing behavior securely via accessor methods.</a:t>
            </a:r>
            <a:endParaRPr lang="en-US" sz="10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3681412" y="3744366"/>
            <a:ext cx="2119312" cy="7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Specialized classification behavior patterns derive from generic base objects efficiently (e.g., DomesticFlight).</a:t>
            </a:r>
            <a:endParaRPr lang="en-US" sz="10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6391275" y="3744366"/>
            <a:ext cx="2119312" cy="98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Enforced contracts via pure virtual constraints like calculateBaseFare() = 0 avoiding incomplete type instantiation.</a:t>
            </a:r>
            <a:endParaRPr lang="en-US" sz="10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9101137" y="3744366"/>
            <a:ext cx="2119312" cy="77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Dynamic dispatch execution resolving specialized routines like getRefundPercentage() at runtime context.</a:t>
            </a:r>
            <a:endParaRPr lang="en-US" sz="10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2588865"/>
            <a:ext cx="3391644" cy="2506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91769" y="2588865"/>
            <a:ext cx="3391644" cy="2506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012013" y="2588865"/>
            <a:ext cx="3408461" cy="250686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1462087" y="2931765"/>
            <a:ext cx="24760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TEMPLATES</a:t>
            </a:r>
            <a:endParaRPr lang="en-US" sz="15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5006131" y="2931765"/>
            <a:ext cx="2556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OPERATOR OVERLOADING</a:t>
            </a:r>
            <a:endParaRPr lang="en-US" sz="15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8674000" y="2931765"/>
            <a:ext cx="25237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EXCEPTION FAULTS</a:t>
            </a:r>
            <a:endParaRPr lang="en-US" sz="15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14425" y="2950815"/>
            <a:ext cx="23336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734669" y="3065115"/>
            <a:ext cx="15716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354913" y="2950815"/>
            <a:ext cx="20478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ADVANCED LANGUAGE MECHANICS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1114425" y="3331815"/>
            <a:ext cx="2705844" cy="116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Leverages an adaptive type-agnostic utility: template to cleanly seek matching identities across any structural dataset container without redundancy.</a:t>
            </a:r>
            <a:endParaRPr lang="en-US" sz="1125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4734669" y="3560415"/>
            <a:ext cx="2705844" cy="1192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Streamlines interface syntax logic. Extends the standard out stream operator&lt;&lt; for quick rendering and custom checks via binary operator== comparisons.</a:t>
            </a:r>
            <a:endParaRPr lang="en-US" sz="1125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8354913" y="3331815"/>
            <a:ext cx="2722661" cy="1192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Custom engineering safety exception structs (FlightFullException &amp; InvalidCancellationException) are wired inside to handle unexpected real-time failures.</a:t>
            </a:r>
            <a:endParaRPr lang="en-US" sz="1125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2365920"/>
            <a:ext cx="10648950" cy="2952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9" name="Google Shape;239;p24"/>
          <p:cNvGraphicFramePr/>
          <p:nvPr/>
        </p:nvGraphicFramePr>
        <p:xfrm>
          <a:off x="781050" y="2375445"/>
          <a:ext cx="10629900" cy="3000000"/>
        </p:xfrm>
        <a:graphic>
          <a:graphicData uri="http://schemas.openxmlformats.org/drawingml/2006/table">
            <a:tbl>
              <a:tblPr firstRow="1" bandRow="1">
                <a:noFill/>
                <a:tableStyleId>{D1BD3E31-CBE6-4D05-A113-BC8260836A5A}</a:tableStyleId>
              </a:tblPr>
              <a:tblGrid>
                <a:gridCol w="3365750"/>
                <a:gridCol w="4903000"/>
                <a:gridCol w="2361150"/>
              </a:tblGrid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FFFFF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Verification Check Target</a:t>
                      </a:r>
                      <a:endParaRPr lang="en-US" sz="1050" b="0" i="0" u="none" strike="noStrike" cap="none">
                        <a:solidFill>
                          <a:srgbClr val="FFFFFF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FFFFF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Target Intent Expected Outcome</a:t>
                      </a:r>
                      <a:endParaRPr lang="en-US" sz="1050" b="0" i="0" u="none" strike="noStrike" cap="none">
                        <a:solidFill>
                          <a:srgbClr val="FFFFFF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FFFFF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Status Metric Result</a:t>
                      </a:r>
                      <a:endParaRPr lang="en-US" sz="1050" b="0" i="0" u="none" strike="noStrike" cap="none">
                        <a:solidFill>
                          <a:srgbClr val="FFFFFF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Create Flight (Domestic/Intl/Charter)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Instantiate derived object configurations successfully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Passed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Create Passenger (Economy/Biz/First)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Populate specialized tier record fields correctly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Passed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822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Create Ticket Mapping Instance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Tie passenger and flight entities via structural association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Passed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Centralize Records via Airline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Ingest collections cleanly within uniform STL vector arrays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8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Passed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822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Execute System Reporting Loop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Traverse elements polymorphically to display properties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Passed</a:t>
                      </a:r>
                      <a:endParaRPr lang="en-US" sz="1200" b="0" i="0" u="none" strike="noStrike" cap="none">
                        <a:solidFill>
                          <a:srgbClr val="94A3B8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p24"/>
          <p:cNvSpPr/>
          <p:nvPr/>
        </p:nvSpPr>
        <p:spPr>
          <a:xfrm>
            <a:off x="781050" y="3323183"/>
            <a:ext cx="33657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4146798" y="3323183"/>
            <a:ext cx="49029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9049791" y="3323183"/>
            <a:ext cx="23611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781050" y="3818483"/>
            <a:ext cx="33657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4146798" y="3818483"/>
            <a:ext cx="49029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9049791" y="3818483"/>
            <a:ext cx="23611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781050" y="4313783"/>
            <a:ext cx="33657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146798" y="4313783"/>
            <a:ext cx="49029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9049791" y="4313783"/>
            <a:ext cx="23611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781050" y="4809083"/>
            <a:ext cx="336574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4146798" y="4809083"/>
            <a:ext cx="490299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9049791" y="4809083"/>
            <a:ext cx="236115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52" name="Google Shape;252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278391" y="2975520"/>
            <a:ext cx="600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78391" y="3470820"/>
            <a:ext cx="600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278391" y="3966120"/>
            <a:ext cx="600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78391" y="4461420"/>
            <a:ext cx="600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278391" y="4956720"/>
            <a:ext cx="600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SYSTEM VERIFICATION MATRIX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33450" y="367278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29362" y="367278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33450" y="462706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29362" y="462706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ENGINEERING LIMITATIONS &amp; ROADMAPS</a:t>
            </a:r>
            <a:endParaRPr lang="en-US" sz="285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771525" y="581025"/>
            <a:ext cx="47625" cy="3981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771525" y="2566094"/>
            <a:ext cx="10648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8A29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initial engineering model behaves as a functional architectural prototype. Key infrastructural improvements are required for enterprise scale:</a:t>
            </a:r>
            <a:endParaRPr lang="en-US" sz="1350" b="0" i="0" u="none" strike="noStrike" cap="none">
              <a:solidFill>
                <a:srgbClr val="A8A29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1219200" y="3514725"/>
            <a:ext cx="464343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 full booking pipeline or structural cancellation validation logic tracking engine.</a:t>
            </a:r>
            <a:endParaRPr lang="en-US" sz="12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6596062" y="3514725"/>
            <a:ext cx="46624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Basic file persistence mechanism implementation without external RDBMS relational structures.</a:t>
            </a:r>
            <a:endParaRPr lang="en-US" sz="12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1219200" y="4469010"/>
            <a:ext cx="464343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Linear lookups require indexing optimization for enterprise search scalability.</a:t>
            </a:r>
            <a:endParaRPr lang="en-US" sz="12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6615112" y="4469010"/>
            <a:ext cx="464343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Strict console terminal interface dependencies without graphic UI elements.</a:t>
            </a:r>
            <a:endParaRPr lang="en-US" sz="1200" b="0" i="0" u="none" strike="noStrike" cap="none">
              <a:solidFill>
                <a:srgbClr val="E2E8F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/>
          <p:nvPr/>
        </p:nvSpPr>
        <p:spPr>
          <a:xfrm>
            <a:off x="8372475" y="-1419225"/>
            <a:ext cx="4762500" cy="4762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1940480" y="2435721"/>
            <a:ext cx="831103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ARCHITECTURE REVIEW COMPLETE</a:t>
            </a:r>
            <a:endParaRPr lang="en-US" sz="36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2762250" y="3407271"/>
            <a:ext cx="6667500" cy="101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C++ blueprint effectively establishes clean decoupling rules, robust polymorphism patterns, and generic abstractions for a future production system layout.</a:t>
            </a:r>
            <a:endParaRPr lang="en-US" sz="16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2762250" y="3178671"/>
            <a:ext cx="66675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4996</Words>
  <Application>WPS Presentation</Application>
  <PresentationFormat/>
  <Paragraphs>180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Urbanist</vt:lpstr>
      <vt:lpstr>Inter</vt:lpstr>
      <vt:lpstr>Inter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Raja King</cp:lastModifiedBy>
  <cp:revision>1</cp:revision>
  <dcterms:created xsi:type="dcterms:W3CDTF">2026-06-03T03:18:31Z</dcterms:created>
  <dcterms:modified xsi:type="dcterms:W3CDTF">2026-06-03T03:18:34Z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C725EDDA576547049578770390C30AC9_12</vt:lpwstr>
  </property>
</Properties>
</file>